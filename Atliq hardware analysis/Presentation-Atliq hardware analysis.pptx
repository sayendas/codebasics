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5705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397357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4221577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2280135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1676896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1174544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888155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164126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2794194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2213617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2009879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203258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3846058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141939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1877322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24950137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B9819-E8A3-4177-80DF-6993DD258295}" type="datetimeFigureOut">
              <a:rPr lang="en-IN" smtClean="0"/>
              <a:t>01-02-2026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9929EF2-1522-422D-A8EE-DA9C1EB408C8}" type="slidenum">
              <a:rPr lang="en-IN" smtClean="0"/>
              <a:t>‹#›</a:t>
            </a:fld>
            <a:endParaRPr lang="en-IN" dirty="0"/>
          </a:p>
        </p:txBody>
      </p:sp>
    </p:spTree>
    <p:extLst>
      <p:ext uri="{BB962C8B-B14F-4D97-AF65-F5344CB8AC3E}">
        <p14:creationId xmlns:p14="http://schemas.microsoft.com/office/powerpoint/2010/main" val="320760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A7FB9819-E8A3-4177-80DF-6993DD258295}" type="datetimeFigureOut">
              <a:rPr lang="en-IN" smtClean="0"/>
              <a:t>01-02-2026</a:t>
            </a:fld>
            <a:endParaRPr lang="en-IN"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39929EF2-1522-422D-A8EE-DA9C1EB408C8}" type="slidenum">
              <a:rPr lang="en-IN" smtClean="0"/>
              <a:t>‹#›</a:t>
            </a:fld>
            <a:endParaRPr lang="en-IN" dirty="0"/>
          </a:p>
        </p:txBody>
      </p:sp>
    </p:spTree>
    <p:extLst>
      <p:ext uri="{BB962C8B-B14F-4D97-AF65-F5344CB8AC3E}">
        <p14:creationId xmlns:p14="http://schemas.microsoft.com/office/powerpoint/2010/main" val="1064512664"/>
      </p:ext>
    </p:extLst>
  </p:cSld>
  <p:clrMap bg1="dk1" tx1="lt1" bg2="dk2" tx2="lt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 id="2147483760"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B54FB-6F1F-4990-816F-2CB091267A64}"/>
              </a:ext>
            </a:extLst>
          </p:cNvPr>
          <p:cNvSpPr>
            <a:spLocks noGrp="1"/>
          </p:cNvSpPr>
          <p:nvPr>
            <p:ph type="ctrTitle"/>
          </p:nvPr>
        </p:nvSpPr>
        <p:spPr/>
        <p:txBody>
          <a:bodyPr/>
          <a:lstStyle/>
          <a:p>
            <a:pPr algn="ctr"/>
            <a:r>
              <a:rPr lang="en-US" dirty="0"/>
              <a:t>ATLIQ Hardware </a:t>
            </a:r>
            <a:endParaRPr lang="en-IN" dirty="0"/>
          </a:p>
        </p:txBody>
      </p:sp>
      <p:sp>
        <p:nvSpPr>
          <p:cNvPr id="3" name="Subtitle 2">
            <a:extLst>
              <a:ext uri="{FF2B5EF4-FFF2-40B4-BE49-F238E27FC236}">
                <a16:creationId xmlns:a16="http://schemas.microsoft.com/office/drawing/2014/main" id="{8F974835-BF66-44E0-9A2A-917E4F8E6A81}"/>
              </a:ext>
            </a:extLst>
          </p:cNvPr>
          <p:cNvSpPr>
            <a:spLocks noGrp="1"/>
          </p:cNvSpPr>
          <p:nvPr>
            <p:ph type="subTitle" idx="1"/>
          </p:nvPr>
        </p:nvSpPr>
        <p:spPr/>
        <p:txBody>
          <a:bodyPr/>
          <a:lstStyle/>
          <a:p>
            <a:pPr algn="ctr"/>
            <a:r>
              <a:rPr lang="en-US" dirty="0"/>
              <a:t>This presentation contains the analysis for the business questions asked by the management to the technical team in order to understand the areas of improvement in business.</a:t>
            </a:r>
            <a:endParaRPr lang="en-IN" dirty="0"/>
          </a:p>
        </p:txBody>
      </p:sp>
    </p:spTree>
    <p:extLst>
      <p:ext uri="{BB962C8B-B14F-4D97-AF65-F5344CB8AC3E}">
        <p14:creationId xmlns:p14="http://schemas.microsoft.com/office/powerpoint/2010/main" val="3341595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9DEA7D-4131-4583-96A7-0ECBDA85EF11}"/>
              </a:ext>
            </a:extLst>
          </p:cNvPr>
          <p:cNvSpPr txBox="1"/>
          <p:nvPr/>
        </p:nvSpPr>
        <p:spPr>
          <a:xfrm>
            <a:off x="725864" y="424206"/>
            <a:ext cx="11147603" cy="923330"/>
          </a:xfrm>
          <a:prstGeom prst="rect">
            <a:avLst/>
          </a:prstGeom>
          <a:noFill/>
        </p:spPr>
        <p:txBody>
          <a:bodyPr wrap="none" rtlCol="0">
            <a:spAutoFit/>
          </a:bodyPr>
          <a:lstStyle/>
          <a:p>
            <a:br>
              <a:rPr lang="en-IN" sz="1800" b="0" i="0" u="none" strike="noStrike" baseline="0" dirty="0">
                <a:solidFill>
                  <a:srgbClr val="000000"/>
                </a:solidFill>
                <a:latin typeface="Roboto" panose="020B0604020202020204" pitchFamily="2" charset="0"/>
              </a:rPr>
            </a:br>
            <a:br>
              <a:rPr lang="en-IN" sz="1800" b="0" i="0" u="none" strike="noStrike" baseline="0" dirty="0">
                <a:latin typeface="Roboto" panose="020B0604020202020204" pitchFamily="2" charset="0"/>
              </a:rPr>
            </a:br>
            <a:r>
              <a:rPr lang="en-US" sz="1800" b="0" i="0" u="none" strike="noStrike" baseline="0" dirty="0">
                <a:latin typeface="Roboto" panose="020B0604020202020204" pitchFamily="2" charset="0"/>
              </a:rPr>
              <a:t> 1. Provide the list of markets in which customer "Atliq Exclusive" operates its business in the APAC region. </a:t>
            </a:r>
            <a:endParaRPr lang="en-IN" dirty="0"/>
          </a:p>
        </p:txBody>
      </p:sp>
      <p:pic>
        <p:nvPicPr>
          <p:cNvPr id="4" name="Picture 3">
            <a:extLst>
              <a:ext uri="{FF2B5EF4-FFF2-40B4-BE49-F238E27FC236}">
                <a16:creationId xmlns:a16="http://schemas.microsoft.com/office/drawing/2014/main" id="{099D3762-0EA9-49CA-9F4C-40424B6802BF}"/>
              </a:ext>
            </a:extLst>
          </p:cNvPr>
          <p:cNvPicPr>
            <a:picLocks noChangeAspect="1"/>
          </p:cNvPicPr>
          <p:nvPr/>
        </p:nvPicPr>
        <p:blipFill>
          <a:blip r:embed="rId2"/>
          <a:stretch>
            <a:fillRect/>
          </a:stretch>
        </p:blipFill>
        <p:spPr>
          <a:xfrm>
            <a:off x="935806" y="1671196"/>
            <a:ext cx="4381500" cy="857250"/>
          </a:xfrm>
          <a:prstGeom prst="rect">
            <a:avLst/>
          </a:prstGeom>
        </p:spPr>
      </p:pic>
      <p:pic>
        <p:nvPicPr>
          <p:cNvPr id="6" name="Picture 5">
            <a:extLst>
              <a:ext uri="{FF2B5EF4-FFF2-40B4-BE49-F238E27FC236}">
                <a16:creationId xmlns:a16="http://schemas.microsoft.com/office/drawing/2014/main" id="{9E1E9AF4-69FA-4D40-A1C5-91B2D96A3F41}"/>
              </a:ext>
            </a:extLst>
          </p:cNvPr>
          <p:cNvPicPr>
            <a:picLocks noChangeAspect="1"/>
          </p:cNvPicPr>
          <p:nvPr/>
        </p:nvPicPr>
        <p:blipFill>
          <a:blip r:embed="rId3"/>
          <a:stretch>
            <a:fillRect/>
          </a:stretch>
        </p:blipFill>
        <p:spPr>
          <a:xfrm>
            <a:off x="935806" y="2716539"/>
            <a:ext cx="1304925" cy="1971675"/>
          </a:xfrm>
          <a:prstGeom prst="rect">
            <a:avLst/>
          </a:prstGeom>
        </p:spPr>
      </p:pic>
      <p:pic>
        <p:nvPicPr>
          <p:cNvPr id="8" name="Picture 7">
            <a:extLst>
              <a:ext uri="{FF2B5EF4-FFF2-40B4-BE49-F238E27FC236}">
                <a16:creationId xmlns:a16="http://schemas.microsoft.com/office/drawing/2014/main" id="{A8CE1E53-95CF-4E1F-A86C-99934B6FF1F8}"/>
              </a:ext>
            </a:extLst>
          </p:cNvPr>
          <p:cNvPicPr>
            <a:picLocks noChangeAspect="1"/>
          </p:cNvPicPr>
          <p:nvPr/>
        </p:nvPicPr>
        <p:blipFill>
          <a:blip r:embed="rId4"/>
          <a:stretch>
            <a:fillRect/>
          </a:stretch>
        </p:blipFill>
        <p:spPr>
          <a:xfrm>
            <a:off x="2820971" y="2716539"/>
            <a:ext cx="6248400" cy="3409950"/>
          </a:xfrm>
          <a:prstGeom prst="rect">
            <a:avLst/>
          </a:prstGeom>
        </p:spPr>
      </p:pic>
      <p:sp>
        <p:nvSpPr>
          <p:cNvPr id="9" name="TextBox 8">
            <a:extLst>
              <a:ext uri="{FF2B5EF4-FFF2-40B4-BE49-F238E27FC236}">
                <a16:creationId xmlns:a16="http://schemas.microsoft.com/office/drawing/2014/main" id="{AADFD20A-4340-446D-B43E-569F6793DA46}"/>
              </a:ext>
            </a:extLst>
          </p:cNvPr>
          <p:cNvSpPr txBox="1"/>
          <p:nvPr/>
        </p:nvSpPr>
        <p:spPr>
          <a:xfrm>
            <a:off x="1102936" y="6391373"/>
            <a:ext cx="8389856" cy="369332"/>
          </a:xfrm>
          <a:prstGeom prst="rect">
            <a:avLst/>
          </a:prstGeom>
          <a:noFill/>
        </p:spPr>
        <p:txBody>
          <a:bodyPr wrap="square" rtlCol="0">
            <a:spAutoFit/>
          </a:bodyPr>
          <a:lstStyle/>
          <a:p>
            <a:r>
              <a:rPr lang="en-US" dirty="0"/>
              <a:t>For customer Atliq Exclusive, it operates in 8 markets in the APAC region.</a:t>
            </a:r>
            <a:endParaRPr lang="en-IN" dirty="0"/>
          </a:p>
        </p:txBody>
      </p:sp>
    </p:spTree>
    <p:extLst>
      <p:ext uri="{BB962C8B-B14F-4D97-AF65-F5344CB8AC3E}">
        <p14:creationId xmlns:p14="http://schemas.microsoft.com/office/powerpoint/2010/main" val="2474431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16A744-F320-49F5-A8DD-672394B6FEC7}"/>
              </a:ext>
            </a:extLst>
          </p:cNvPr>
          <p:cNvSpPr txBox="1"/>
          <p:nvPr/>
        </p:nvSpPr>
        <p:spPr>
          <a:xfrm>
            <a:off x="669303" y="527901"/>
            <a:ext cx="10152668" cy="369332"/>
          </a:xfrm>
          <a:prstGeom prst="rect">
            <a:avLst/>
          </a:prstGeom>
          <a:noFill/>
        </p:spPr>
        <p:txBody>
          <a:bodyPr wrap="square" rtlCol="0">
            <a:spAutoFit/>
          </a:bodyPr>
          <a:lstStyle/>
          <a:p>
            <a:r>
              <a:rPr lang="en-US" sz="1800" b="0" i="0" u="none" strike="noStrike" baseline="0" dirty="0">
                <a:latin typeface="Arial" panose="020B0604020202020204" pitchFamily="34" charset="0"/>
              </a:rPr>
              <a:t> 2. What is the percentage of unique product increase in 2021 vs. 2020? </a:t>
            </a:r>
            <a:endParaRPr lang="en-IN" dirty="0"/>
          </a:p>
        </p:txBody>
      </p:sp>
      <p:pic>
        <p:nvPicPr>
          <p:cNvPr id="4" name="Picture 3">
            <a:extLst>
              <a:ext uri="{FF2B5EF4-FFF2-40B4-BE49-F238E27FC236}">
                <a16:creationId xmlns:a16="http://schemas.microsoft.com/office/drawing/2014/main" id="{1D1DDE6F-74C6-434D-94E0-4C0DCB50FF76}"/>
              </a:ext>
            </a:extLst>
          </p:cNvPr>
          <p:cNvPicPr>
            <a:picLocks noChangeAspect="1"/>
          </p:cNvPicPr>
          <p:nvPr/>
        </p:nvPicPr>
        <p:blipFill>
          <a:blip r:embed="rId2"/>
          <a:stretch>
            <a:fillRect/>
          </a:stretch>
        </p:blipFill>
        <p:spPr>
          <a:xfrm>
            <a:off x="806139" y="1015837"/>
            <a:ext cx="8505825" cy="3638550"/>
          </a:xfrm>
          <a:prstGeom prst="rect">
            <a:avLst/>
          </a:prstGeom>
        </p:spPr>
      </p:pic>
      <p:pic>
        <p:nvPicPr>
          <p:cNvPr id="6" name="Picture 5">
            <a:extLst>
              <a:ext uri="{FF2B5EF4-FFF2-40B4-BE49-F238E27FC236}">
                <a16:creationId xmlns:a16="http://schemas.microsoft.com/office/drawing/2014/main" id="{2E6DA0B2-4155-44CC-A266-4913C6584313}"/>
              </a:ext>
            </a:extLst>
          </p:cNvPr>
          <p:cNvPicPr>
            <a:picLocks noChangeAspect="1"/>
          </p:cNvPicPr>
          <p:nvPr/>
        </p:nvPicPr>
        <p:blipFill>
          <a:blip r:embed="rId3"/>
          <a:stretch>
            <a:fillRect/>
          </a:stretch>
        </p:blipFill>
        <p:spPr>
          <a:xfrm>
            <a:off x="806139" y="4911217"/>
            <a:ext cx="4486275" cy="485775"/>
          </a:xfrm>
          <a:prstGeom prst="rect">
            <a:avLst/>
          </a:prstGeom>
        </p:spPr>
      </p:pic>
      <p:pic>
        <p:nvPicPr>
          <p:cNvPr id="7" name="Picture 6">
            <a:extLst>
              <a:ext uri="{FF2B5EF4-FFF2-40B4-BE49-F238E27FC236}">
                <a16:creationId xmlns:a16="http://schemas.microsoft.com/office/drawing/2014/main" id="{0E3E5D50-29B6-455D-BB75-C61DAF7FFAF6}"/>
              </a:ext>
            </a:extLst>
          </p:cNvPr>
          <p:cNvPicPr>
            <a:picLocks noChangeAspect="1"/>
          </p:cNvPicPr>
          <p:nvPr/>
        </p:nvPicPr>
        <p:blipFill>
          <a:blip r:embed="rId4"/>
          <a:stretch>
            <a:fillRect/>
          </a:stretch>
        </p:blipFill>
        <p:spPr>
          <a:xfrm>
            <a:off x="6095999" y="4705602"/>
            <a:ext cx="4584569" cy="1544370"/>
          </a:xfrm>
          <a:prstGeom prst="rect">
            <a:avLst/>
          </a:prstGeom>
        </p:spPr>
      </p:pic>
      <p:sp>
        <p:nvSpPr>
          <p:cNvPr id="8" name="TextBox 7">
            <a:extLst>
              <a:ext uri="{FF2B5EF4-FFF2-40B4-BE49-F238E27FC236}">
                <a16:creationId xmlns:a16="http://schemas.microsoft.com/office/drawing/2014/main" id="{79E7C7DC-D1EE-4F19-847E-A723A0015928}"/>
              </a:ext>
            </a:extLst>
          </p:cNvPr>
          <p:cNvSpPr txBox="1"/>
          <p:nvPr/>
        </p:nvSpPr>
        <p:spPr>
          <a:xfrm>
            <a:off x="669303" y="6301187"/>
            <a:ext cx="11472420" cy="369332"/>
          </a:xfrm>
          <a:prstGeom prst="rect">
            <a:avLst/>
          </a:prstGeom>
          <a:noFill/>
        </p:spPr>
        <p:txBody>
          <a:bodyPr wrap="square" rtlCol="0">
            <a:spAutoFit/>
          </a:bodyPr>
          <a:lstStyle/>
          <a:p>
            <a:r>
              <a:rPr lang="en-US" dirty="0"/>
              <a:t>Compared to 2020, there has been 36.33 % increase in the number of unique products in 2021. </a:t>
            </a:r>
            <a:endParaRPr lang="en-IN" dirty="0"/>
          </a:p>
        </p:txBody>
      </p:sp>
    </p:spTree>
    <p:extLst>
      <p:ext uri="{BB962C8B-B14F-4D97-AF65-F5344CB8AC3E}">
        <p14:creationId xmlns:p14="http://schemas.microsoft.com/office/powerpoint/2010/main" val="715743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3249EC-50E4-476A-BAB4-19122073065D}"/>
              </a:ext>
            </a:extLst>
          </p:cNvPr>
          <p:cNvSpPr txBox="1"/>
          <p:nvPr/>
        </p:nvSpPr>
        <p:spPr>
          <a:xfrm>
            <a:off x="424206" y="480767"/>
            <a:ext cx="10982227" cy="646331"/>
          </a:xfrm>
          <a:prstGeom prst="rect">
            <a:avLst/>
          </a:prstGeom>
          <a:noFill/>
        </p:spPr>
        <p:txBody>
          <a:bodyPr wrap="square" rtlCol="0">
            <a:spAutoFit/>
          </a:bodyPr>
          <a:lstStyle/>
          <a:p>
            <a:r>
              <a:rPr lang="en-US" sz="1800" b="0" i="0" u="none" strike="noStrike" baseline="0" dirty="0">
                <a:latin typeface="Arial" panose="020B0604020202020204" pitchFamily="34" charset="0"/>
              </a:rPr>
              <a:t> 3. Provide a report with all the unique product counts for each segment and sort them in descending order       of product counts. </a:t>
            </a:r>
            <a:endParaRPr lang="en-IN" dirty="0"/>
          </a:p>
        </p:txBody>
      </p:sp>
      <p:pic>
        <p:nvPicPr>
          <p:cNvPr id="4" name="Picture 3">
            <a:extLst>
              <a:ext uri="{FF2B5EF4-FFF2-40B4-BE49-F238E27FC236}">
                <a16:creationId xmlns:a16="http://schemas.microsoft.com/office/drawing/2014/main" id="{B2174CEB-F1C1-4C1B-8379-49D626A46ED3}"/>
              </a:ext>
            </a:extLst>
          </p:cNvPr>
          <p:cNvPicPr>
            <a:picLocks noChangeAspect="1"/>
          </p:cNvPicPr>
          <p:nvPr/>
        </p:nvPicPr>
        <p:blipFill>
          <a:blip r:embed="rId2"/>
          <a:stretch>
            <a:fillRect/>
          </a:stretch>
        </p:blipFill>
        <p:spPr>
          <a:xfrm>
            <a:off x="583185" y="1298100"/>
            <a:ext cx="5124450" cy="1000125"/>
          </a:xfrm>
          <a:prstGeom prst="rect">
            <a:avLst/>
          </a:prstGeom>
        </p:spPr>
      </p:pic>
      <p:pic>
        <p:nvPicPr>
          <p:cNvPr id="6" name="Picture 5">
            <a:extLst>
              <a:ext uri="{FF2B5EF4-FFF2-40B4-BE49-F238E27FC236}">
                <a16:creationId xmlns:a16="http://schemas.microsoft.com/office/drawing/2014/main" id="{7D759C51-28E3-4B91-AC5F-EC598657464A}"/>
              </a:ext>
            </a:extLst>
          </p:cNvPr>
          <p:cNvPicPr>
            <a:picLocks noChangeAspect="1"/>
          </p:cNvPicPr>
          <p:nvPr/>
        </p:nvPicPr>
        <p:blipFill>
          <a:blip r:embed="rId3"/>
          <a:stretch>
            <a:fillRect/>
          </a:stretch>
        </p:blipFill>
        <p:spPr>
          <a:xfrm>
            <a:off x="583185" y="2686050"/>
            <a:ext cx="2219325" cy="1485900"/>
          </a:xfrm>
          <a:prstGeom prst="rect">
            <a:avLst/>
          </a:prstGeom>
        </p:spPr>
      </p:pic>
      <p:pic>
        <p:nvPicPr>
          <p:cNvPr id="8" name="Picture 7">
            <a:extLst>
              <a:ext uri="{FF2B5EF4-FFF2-40B4-BE49-F238E27FC236}">
                <a16:creationId xmlns:a16="http://schemas.microsoft.com/office/drawing/2014/main" id="{4591E789-4502-4ACE-98DD-8E4738E18AA2}"/>
              </a:ext>
            </a:extLst>
          </p:cNvPr>
          <p:cNvPicPr>
            <a:picLocks noChangeAspect="1"/>
          </p:cNvPicPr>
          <p:nvPr/>
        </p:nvPicPr>
        <p:blipFill>
          <a:blip r:embed="rId4"/>
          <a:stretch>
            <a:fillRect/>
          </a:stretch>
        </p:blipFill>
        <p:spPr>
          <a:xfrm>
            <a:off x="3145410" y="2469227"/>
            <a:ext cx="6353175" cy="3215136"/>
          </a:xfrm>
          <a:prstGeom prst="rect">
            <a:avLst/>
          </a:prstGeom>
        </p:spPr>
      </p:pic>
      <p:sp>
        <p:nvSpPr>
          <p:cNvPr id="9" name="TextBox 8">
            <a:extLst>
              <a:ext uri="{FF2B5EF4-FFF2-40B4-BE49-F238E27FC236}">
                <a16:creationId xmlns:a16="http://schemas.microsoft.com/office/drawing/2014/main" id="{9ABACCD3-F22B-4F46-B1C7-ADBC8F62D96A}"/>
              </a:ext>
            </a:extLst>
          </p:cNvPr>
          <p:cNvSpPr txBox="1"/>
          <p:nvPr/>
        </p:nvSpPr>
        <p:spPr>
          <a:xfrm>
            <a:off x="583185" y="6070862"/>
            <a:ext cx="9277252" cy="646331"/>
          </a:xfrm>
          <a:prstGeom prst="rect">
            <a:avLst/>
          </a:prstGeom>
          <a:noFill/>
        </p:spPr>
        <p:txBody>
          <a:bodyPr wrap="square" rtlCol="0">
            <a:spAutoFit/>
          </a:bodyPr>
          <a:lstStyle/>
          <a:p>
            <a:r>
              <a:rPr lang="en-US" dirty="0"/>
              <a:t>There are 6 segments, out of which maximum products are for Notebook and minimum products are for Networking. </a:t>
            </a:r>
            <a:endParaRPr lang="en-IN" dirty="0"/>
          </a:p>
        </p:txBody>
      </p:sp>
    </p:spTree>
    <p:extLst>
      <p:ext uri="{BB962C8B-B14F-4D97-AF65-F5344CB8AC3E}">
        <p14:creationId xmlns:p14="http://schemas.microsoft.com/office/powerpoint/2010/main" val="183739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858267-6A6C-4E6D-A2D6-785842A7A735}"/>
              </a:ext>
            </a:extLst>
          </p:cNvPr>
          <p:cNvSpPr txBox="1"/>
          <p:nvPr/>
        </p:nvSpPr>
        <p:spPr>
          <a:xfrm>
            <a:off x="358218" y="377072"/>
            <a:ext cx="10906812" cy="369332"/>
          </a:xfrm>
          <a:prstGeom prst="rect">
            <a:avLst/>
          </a:prstGeom>
          <a:noFill/>
        </p:spPr>
        <p:txBody>
          <a:bodyPr wrap="square" rtlCol="0">
            <a:spAutoFit/>
          </a:bodyPr>
          <a:lstStyle/>
          <a:p>
            <a:r>
              <a:rPr lang="en-US" sz="1800" b="0" i="0" u="none" strike="noStrike" baseline="0" dirty="0">
                <a:latin typeface="Arial" panose="020B0604020202020204" pitchFamily="34" charset="0"/>
              </a:rPr>
              <a:t> 4.Which segment had the most increase in unique products in 2021 vs 2020? </a:t>
            </a:r>
            <a:endParaRPr lang="en-IN" dirty="0"/>
          </a:p>
        </p:txBody>
      </p:sp>
      <p:pic>
        <p:nvPicPr>
          <p:cNvPr id="4" name="Picture 3">
            <a:extLst>
              <a:ext uri="{FF2B5EF4-FFF2-40B4-BE49-F238E27FC236}">
                <a16:creationId xmlns:a16="http://schemas.microsoft.com/office/drawing/2014/main" id="{6916909B-2202-43E0-A081-EF7CC28E1694}"/>
              </a:ext>
            </a:extLst>
          </p:cNvPr>
          <p:cNvPicPr>
            <a:picLocks noChangeAspect="1"/>
          </p:cNvPicPr>
          <p:nvPr/>
        </p:nvPicPr>
        <p:blipFill>
          <a:blip r:embed="rId2"/>
          <a:stretch>
            <a:fillRect/>
          </a:stretch>
        </p:blipFill>
        <p:spPr>
          <a:xfrm>
            <a:off x="568358" y="851014"/>
            <a:ext cx="6172200" cy="5438775"/>
          </a:xfrm>
          <a:prstGeom prst="rect">
            <a:avLst/>
          </a:prstGeom>
        </p:spPr>
      </p:pic>
      <p:pic>
        <p:nvPicPr>
          <p:cNvPr id="6" name="Picture 5">
            <a:extLst>
              <a:ext uri="{FF2B5EF4-FFF2-40B4-BE49-F238E27FC236}">
                <a16:creationId xmlns:a16="http://schemas.microsoft.com/office/drawing/2014/main" id="{F9A21951-2EB1-4461-B9D3-57C9DA30E4B1}"/>
              </a:ext>
            </a:extLst>
          </p:cNvPr>
          <p:cNvPicPr>
            <a:picLocks noChangeAspect="1"/>
          </p:cNvPicPr>
          <p:nvPr/>
        </p:nvPicPr>
        <p:blipFill>
          <a:blip r:embed="rId3"/>
          <a:stretch>
            <a:fillRect/>
          </a:stretch>
        </p:blipFill>
        <p:spPr>
          <a:xfrm>
            <a:off x="6910339" y="851014"/>
            <a:ext cx="4781550" cy="1533525"/>
          </a:xfrm>
          <a:prstGeom prst="rect">
            <a:avLst/>
          </a:prstGeom>
        </p:spPr>
      </p:pic>
      <p:pic>
        <p:nvPicPr>
          <p:cNvPr id="8" name="Picture 7">
            <a:extLst>
              <a:ext uri="{FF2B5EF4-FFF2-40B4-BE49-F238E27FC236}">
                <a16:creationId xmlns:a16="http://schemas.microsoft.com/office/drawing/2014/main" id="{840F5F73-B385-44FA-984B-15807BD94434}"/>
              </a:ext>
            </a:extLst>
          </p:cNvPr>
          <p:cNvPicPr>
            <a:picLocks noChangeAspect="1"/>
          </p:cNvPicPr>
          <p:nvPr/>
        </p:nvPicPr>
        <p:blipFill>
          <a:blip r:embed="rId4"/>
          <a:stretch>
            <a:fillRect/>
          </a:stretch>
        </p:blipFill>
        <p:spPr>
          <a:xfrm>
            <a:off x="6810375" y="2716098"/>
            <a:ext cx="5152239" cy="3290888"/>
          </a:xfrm>
          <a:prstGeom prst="rect">
            <a:avLst/>
          </a:prstGeom>
        </p:spPr>
      </p:pic>
      <p:sp>
        <p:nvSpPr>
          <p:cNvPr id="9" name="TextBox 8">
            <a:extLst>
              <a:ext uri="{FF2B5EF4-FFF2-40B4-BE49-F238E27FC236}">
                <a16:creationId xmlns:a16="http://schemas.microsoft.com/office/drawing/2014/main" id="{2B06A7DD-E35C-444E-99C1-6B2996BFC95E}"/>
              </a:ext>
            </a:extLst>
          </p:cNvPr>
          <p:cNvSpPr txBox="1"/>
          <p:nvPr/>
        </p:nvSpPr>
        <p:spPr>
          <a:xfrm>
            <a:off x="358218" y="6399112"/>
            <a:ext cx="9078013" cy="369332"/>
          </a:xfrm>
          <a:prstGeom prst="rect">
            <a:avLst/>
          </a:prstGeom>
          <a:noFill/>
        </p:spPr>
        <p:txBody>
          <a:bodyPr wrap="square" rtlCol="0">
            <a:spAutoFit/>
          </a:bodyPr>
          <a:lstStyle/>
          <a:p>
            <a:r>
              <a:rPr lang="en-US" dirty="0"/>
              <a:t>Accessories segment has the most product increase in 2021 compared to 2020</a:t>
            </a:r>
            <a:endParaRPr lang="en-IN" dirty="0"/>
          </a:p>
        </p:txBody>
      </p:sp>
    </p:spTree>
    <p:extLst>
      <p:ext uri="{BB962C8B-B14F-4D97-AF65-F5344CB8AC3E}">
        <p14:creationId xmlns:p14="http://schemas.microsoft.com/office/powerpoint/2010/main" val="1500899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088B12-60D9-4BEC-B387-D9846CFC58C5}"/>
              </a:ext>
            </a:extLst>
          </p:cNvPr>
          <p:cNvSpPr txBox="1"/>
          <p:nvPr/>
        </p:nvSpPr>
        <p:spPr>
          <a:xfrm>
            <a:off x="320512" y="405352"/>
            <a:ext cx="11246177" cy="369332"/>
          </a:xfrm>
          <a:prstGeom prst="rect">
            <a:avLst/>
          </a:prstGeom>
          <a:noFill/>
        </p:spPr>
        <p:txBody>
          <a:bodyPr wrap="square" rtlCol="0">
            <a:spAutoFit/>
          </a:bodyPr>
          <a:lstStyle/>
          <a:p>
            <a:r>
              <a:rPr lang="en-US" sz="1800" b="0" i="0" u="none" strike="noStrike" baseline="0" dirty="0">
                <a:latin typeface="Arial" panose="020B0604020202020204" pitchFamily="34" charset="0"/>
              </a:rPr>
              <a:t> 5. Get the products that have the highest and lowest manufacturing costs. </a:t>
            </a:r>
            <a:endParaRPr lang="en-IN" dirty="0"/>
          </a:p>
        </p:txBody>
      </p:sp>
      <p:pic>
        <p:nvPicPr>
          <p:cNvPr id="4" name="Picture 3">
            <a:extLst>
              <a:ext uri="{FF2B5EF4-FFF2-40B4-BE49-F238E27FC236}">
                <a16:creationId xmlns:a16="http://schemas.microsoft.com/office/drawing/2014/main" id="{A484880A-9A27-47C7-8D7E-82C8635C199F}"/>
              </a:ext>
            </a:extLst>
          </p:cNvPr>
          <p:cNvPicPr>
            <a:picLocks noChangeAspect="1"/>
          </p:cNvPicPr>
          <p:nvPr/>
        </p:nvPicPr>
        <p:blipFill>
          <a:blip r:embed="rId2"/>
          <a:stretch>
            <a:fillRect/>
          </a:stretch>
        </p:blipFill>
        <p:spPr>
          <a:xfrm>
            <a:off x="497607" y="851211"/>
            <a:ext cx="8010525" cy="1743075"/>
          </a:xfrm>
          <a:prstGeom prst="rect">
            <a:avLst/>
          </a:prstGeom>
        </p:spPr>
      </p:pic>
      <p:pic>
        <p:nvPicPr>
          <p:cNvPr id="6" name="Picture 5">
            <a:extLst>
              <a:ext uri="{FF2B5EF4-FFF2-40B4-BE49-F238E27FC236}">
                <a16:creationId xmlns:a16="http://schemas.microsoft.com/office/drawing/2014/main" id="{2C3EB40E-3993-49BE-B9A7-8061E400623D}"/>
              </a:ext>
            </a:extLst>
          </p:cNvPr>
          <p:cNvPicPr>
            <a:picLocks noChangeAspect="1"/>
          </p:cNvPicPr>
          <p:nvPr/>
        </p:nvPicPr>
        <p:blipFill>
          <a:blip r:embed="rId3"/>
          <a:stretch>
            <a:fillRect/>
          </a:stretch>
        </p:blipFill>
        <p:spPr>
          <a:xfrm>
            <a:off x="497607" y="2797502"/>
            <a:ext cx="4819650" cy="676275"/>
          </a:xfrm>
          <a:prstGeom prst="rect">
            <a:avLst/>
          </a:prstGeom>
        </p:spPr>
      </p:pic>
      <p:pic>
        <p:nvPicPr>
          <p:cNvPr id="8" name="Picture 7">
            <a:extLst>
              <a:ext uri="{FF2B5EF4-FFF2-40B4-BE49-F238E27FC236}">
                <a16:creationId xmlns:a16="http://schemas.microsoft.com/office/drawing/2014/main" id="{203AD247-F7D0-486F-A5B9-C3446161EBE1}"/>
              </a:ext>
            </a:extLst>
          </p:cNvPr>
          <p:cNvPicPr>
            <a:picLocks noChangeAspect="1"/>
          </p:cNvPicPr>
          <p:nvPr/>
        </p:nvPicPr>
        <p:blipFill>
          <a:blip r:embed="rId4"/>
          <a:stretch>
            <a:fillRect/>
          </a:stretch>
        </p:blipFill>
        <p:spPr>
          <a:xfrm>
            <a:off x="5683969" y="2797502"/>
            <a:ext cx="5648325" cy="3143250"/>
          </a:xfrm>
          <a:prstGeom prst="rect">
            <a:avLst/>
          </a:prstGeom>
        </p:spPr>
      </p:pic>
      <p:sp>
        <p:nvSpPr>
          <p:cNvPr id="9" name="TextBox 8">
            <a:extLst>
              <a:ext uri="{FF2B5EF4-FFF2-40B4-BE49-F238E27FC236}">
                <a16:creationId xmlns:a16="http://schemas.microsoft.com/office/drawing/2014/main" id="{5BB1E57B-9639-446A-97FE-A58599B53F07}"/>
              </a:ext>
            </a:extLst>
          </p:cNvPr>
          <p:cNvSpPr txBox="1"/>
          <p:nvPr/>
        </p:nvSpPr>
        <p:spPr>
          <a:xfrm>
            <a:off x="526256" y="6129482"/>
            <a:ext cx="10834687" cy="646331"/>
          </a:xfrm>
          <a:prstGeom prst="rect">
            <a:avLst/>
          </a:prstGeom>
          <a:noFill/>
        </p:spPr>
        <p:txBody>
          <a:bodyPr wrap="square" rtlCol="0">
            <a:spAutoFit/>
          </a:bodyPr>
          <a:lstStyle/>
          <a:p>
            <a:r>
              <a:rPr lang="en-US" dirty="0"/>
              <a:t>The product codes A2118150101 and A6120110206 having the minimum and maximum manufacturing costs respectively.</a:t>
            </a:r>
            <a:endParaRPr lang="en-IN" dirty="0"/>
          </a:p>
        </p:txBody>
      </p:sp>
    </p:spTree>
    <p:extLst>
      <p:ext uri="{BB962C8B-B14F-4D97-AF65-F5344CB8AC3E}">
        <p14:creationId xmlns:p14="http://schemas.microsoft.com/office/powerpoint/2010/main" val="822547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BD27B8-349C-43E6-AE56-355FBF862282}"/>
              </a:ext>
            </a:extLst>
          </p:cNvPr>
          <p:cNvSpPr txBox="1"/>
          <p:nvPr/>
        </p:nvSpPr>
        <p:spPr>
          <a:xfrm>
            <a:off x="518474" y="405353"/>
            <a:ext cx="11142483" cy="646331"/>
          </a:xfrm>
          <a:prstGeom prst="rect">
            <a:avLst/>
          </a:prstGeom>
          <a:noFill/>
        </p:spPr>
        <p:txBody>
          <a:bodyPr wrap="square" rtlCol="0">
            <a:spAutoFit/>
          </a:bodyPr>
          <a:lstStyle/>
          <a:p>
            <a:r>
              <a:rPr lang="en-US" sz="1800" b="0" i="0" u="none" strike="noStrike" baseline="0" dirty="0">
                <a:latin typeface="Arial" panose="020B0604020202020204" pitchFamily="34" charset="0"/>
              </a:rPr>
              <a:t>6. Generate a report which contains the top 5 customers who received an average high pre_invoice_discount_pct for the fiscal year 2021 and in the Indian market. </a:t>
            </a:r>
            <a:endParaRPr lang="en-IN" dirty="0"/>
          </a:p>
        </p:txBody>
      </p:sp>
      <p:pic>
        <p:nvPicPr>
          <p:cNvPr id="4" name="Picture 3">
            <a:extLst>
              <a:ext uri="{FF2B5EF4-FFF2-40B4-BE49-F238E27FC236}">
                <a16:creationId xmlns:a16="http://schemas.microsoft.com/office/drawing/2014/main" id="{30F451EE-0660-4747-A078-F113CB9424DF}"/>
              </a:ext>
            </a:extLst>
          </p:cNvPr>
          <p:cNvPicPr>
            <a:picLocks noChangeAspect="1"/>
          </p:cNvPicPr>
          <p:nvPr/>
        </p:nvPicPr>
        <p:blipFill>
          <a:blip r:embed="rId2"/>
          <a:stretch>
            <a:fillRect/>
          </a:stretch>
        </p:blipFill>
        <p:spPr>
          <a:xfrm>
            <a:off x="518474" y="1194258"/>
            <a:ext cx="9124950" cy="1943100"/>
          </a:xfrm>
          <a:prstGeom prst="rect">
            <a:avLst/>
          </a:prstGeom>
        </p:spPr>
      </p:pic>
      <p:pic>
        <p:nvPicPr>
          <p:cNvPr id="6" name="Picture 5">
            <a:extLst>
              <a:ext uri="{FF2B5EF4-FFF2-40B4-BE49-F238E27FC236}">
                <a16:creationId xmlns:a16="http://schemas.microsoft.com/office/drawing/2014/main" id="{6CF53AD1-1834-4C1A-8150-A99660E1EDDB}"/>
              </a:ext>
            </a:extLst>
          </p:cNvPr>
          <p:cNvPicPr>
            <a:picLocks noChangeAspect="1"/>
          </p:cNvPicPr>
          <p:nvPr/>
        </p:nvPicPr>
        <p:blipFill>
          <a:blip r:embed="rId3"/>
          <a:stretch>
            <a:fillRect/>
          </a:stretch>
        </p:blipFill>
        <p:spPr>
          <a:xfrm>
            <a:off x="518474" y="3279932"/>
            <a:ext cx="4105275" cy="1333500"/>
          </a:xfrm>
          <a:prstGeom prst="rect">
            <a:avLst/>
          </a:prstGeom>
        </p:spPr>
      </p:pic>
      <p:pic>
        <p:nvPicPr>
          <p:cNvPr id="8" name="Picture 7">
            <a:extLst>
              <a:ext uri="{FF2B5EF4-FFF2-40B4-BE49-F238E27FC236}">
                <a16:creationId xmlns:a16="http://schemas.microsoft.com/office/drawing/2014/main" id="{7093F430-A85F-47AD-AE44-90EE9A56849B}"/>
              </a:ext>
            </a:extLst>
          </p:cNvPr>
          <p:cNvPicPr>
            <a:picLocks noChangeAspect="1"/>
          </p:cNvPicPr>
          <p:nvPr/>
        </p:nvPicPr>
        <p:blipFill>
          <a:blip r:embed="rId4"/>
          <a:stretch>
            <a:fillRect/>
          </a:stretch>
        </p:blipFill>
        <p:spPr>
          <a:xfrm>
            <a:off x="4882203" y="3279932"/>
            <a:ext cx="5372100" cy="2800357"/>
          </a:xfrm>
          <a:prstGeom prst="rect">
            <a:avLst/>
          </a:prstGeom>
        </p:spPr>
      </p:pic>
      <p:sp>
        <p:nvSpPr>
          <p:cNvPr id="9" name="TextBox 8">
            <a:extLst>
              <a:ext uri="{FF2B5EF4-FFF2-40B4-BE49-F238E27FC236}">
                <a16:creationId xmlns:a16="http://schemas.microsoft.com/office/drawing/2014/main" id="{AD04640D-3F95-4C77-90E0-B51381DFEFAB}"/>
              </a:ext>
            </a:extLst>
          </p:cNvPr>
          <p:cNvSpPr txBox="1"/>
          <p:nvPr/>
        </p:nvSpPr>
        <p:spPr>
          <a:xfrm>
            <a:off x="518474" y="6268825"/>
            <a:ext cx="10077254" cy="369332"/>
          </a:xfrm>
          <a:prstGeom prst="rect">
            <a:avLst/>
          </a:prstGeom>
          <a:noFill/>
        </p:spPr>
        <p:txBody>
          <a:bodyPr wrap="square" rtlCol="0">
            <a:spAutoFit/>
          </a:bodyPr>
          <a:lstStyle/>
          <a:p>
            <a:r>
              <a:rPr lang="en-US" dirty="0"/>
              <a:t>In Indian market, for fiscal year 2021, above 5 customers had received high discounts.</a:t>
            </a:r>
            <a:endParaRPr lang="en-IN" dirty="0"/>
          </a:p>
        </p:txBody>
      </p:sp>
    </p:spTree>
    <p:extLst>
      <p:ext uri="{BB962C8B-B14F-4D97-AF65-F5344CB8AC3E}">
        <p14:creationId xmlns:p14="http://schemas.microsoft.com/office/powerpoint/2010/main" val="40825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CFBBD-9AF9-4B02-A89C-6C24E98A3728}"/>
              </a:ext>
            </a:extLst>
          </p:cNvPr>
          <p:cNvSpPr txBox="1"/>
          <p:nvPr/>
        </p:nvSpPr>
        <p:spPr>
          <a:xfrm>
            <a:off x="518474" y="414779"/>
            <a:ext cx="10821971" cy="646331"/>
          </a:xfrm>
          <a:prstGeom prst="rect">
            <a:avLst/>
          </a:prstGeom>
          <a:noFill/>
        </p:spPr>
        <p:txBody>
          <a:bodyPr wrap="square" rtlCol="0">
            <a:spAutoFit/>
          </a:bodyPr>
          <a:lstStyle/>
          <a:p>
            <a:r>
              <a:rPr lang="en-US" sz="1800" b="0" i="0" u="none" strike="noStrike" baseline="0" dirty="0">
                <a:latin typeface="Arial" panose="020B0604020202020204" pitchFamily="34" charset="0"/>
              </a:rPr>
              <a:t>7. Get the complete report of the Gross sales amount for the customer </a:t>
            </a:r>
            <a:r>
              <a:rPr lang="en-US" sz="1800" b="1" i="0" u="none" strike="noStrike" baseline="0" dirty="0">
                <a:latin typeface="Arial" panose="020B0604020202020204" pitchFamily="34" charset="0"/>
              </a:rPr>
              <a:t>“Atliq Exclusive” </a:t>
            </a:r>
            <a:r>
              <a:rPr lang="en-US" sz="1800" b="0" i="0" u="none" strike="noStrike" baseline="0" dirty="0">
                <a:latin typeface="Arial" panose="020B0604020202020204" pitchFamily="34" charset="0"/>
              </a:rPr>
              <a:t>for each month.</a:t>
            </a:r>
            <a:endParaRPr lang="en-IN" dirty="0"/>
          </a:p>
        </p:txBody>
      </p:sp>
      <p:pic>
        <p:nvPicPr>
          <p:cNvPr id="4" name="Picture 3">
            <a:extLst>
              <a:ext uri="{FF2B5EF4-FFF2-40B4-BE49-F238E27FC236}">
                <a16:creationId xmlns:a16="http://schemas.microsoft.com/office/drawing/2014/main" id="{FFCA618E-1079-41B9-8DD0-D69856FA0D7E}"/>
              </a:ext>
            </a:extLst>
          </p:cNvPr>
          <p:cNvPicPr>
            <a:picLocks noChangeAspect="1"/>
          </p:cNvPicPr>
          <p:nvPr/>
        </p:nvPicPr>
        <p:blipFill>
          <a:blip r:embed="rId2"/>
          <a:stretch>
            <a:fillRect/>
          </a:stretch>
        </p:blipFill>
        <p:spPr>
          <a:xfrm>
            <a:off x="518474" y="1133474"/>
            <a:ext cx="10715625" cy="2295525"/>
          </a:xfrm>
          <a:prstGeom prst="rect">
            <a:avLst/>
          </a:prstGeom>
        </p:spPr>
      </p:pic>
      <p:pic>
        <p:nvPicPr>
          <p:cNvPr id="6" name="Picture 5">
            <a:extLst>
              <a:ext uri="{FF2B5EF4-FFF2-40B4-BE49-F238E27FC236}">
                <a16:creationId xmlns:a16="http://schemas.microsoft.com/office/drawing/2014/main" id="{FC97644E-CD44-4963-891C-5505D5E6381C}"/>
              </a:ext>
            </a:extLst>
          </p:cNvPr>
          <p:cNvPicPr>
            <a:picLocks noChangeAspect="1"/>
          </p:cNvPicPr>
          <p:nvPr/>
        </p:nvPicPr>
        <p:blipFill>
          <a:blip r:embed="rId3"/>
          <a:stretch>
            <a:fillRect/>
          </a:stretch>
        </p:blipFill>
        <p:spPr>
          <a:xfrm>
            <a:off x="518474" y="3683425"/>
            <a:ext cx="3019425" cy="1847850"/>
          </a:xfrm>
          <a:prstGeom prst="rect">
            <a:avLst/>
          </a:prstGeom>
        </p:spPr>
      </p:pic>
      <p:pic>
        <p:nvPicPr>
          <p:cNvPr id="8" name="Picture 7">
            <a:extLst>
              <a:ext uri="{FF2B5EF4-FFF2-40B4-BE49-F238E27FC236}">
                <a16:creationId xmlns:a16="http://schemas.microsoft.com/office/drawing/2014/main" id="{5A66B5EA-4698-4CAB-9B60-11FD9E1E9E90}"/>
              </a:ext>
            </a:extLst>
          </p:cNvPr>
          <p:cNvPicPr>
            <a:picLocks noChangeAspect="1"/>
          </p:cNvPicPr>
          <p:nvPr/>
        </p:nvPicPr>
        <p:blipFill>
          <a:blip r:embed="rId4"/>
          <a:stretch>
            <a:fillRect/>
          </a:stretch>
        </p:blipFill>
        <p:spPr>
          <a:xfrm>
            <a:off x="3729872" y="3683426"/>
            <a:ext cx="7504228" cy="2295526"/>
          </a:xfrm>
          <a:prstGeom prst="rect">
            <a:avLst/>
          </a:prstGeom>
        </p:spPr>
      </p:pic>
      <p:sp>
        <p:nvSpPr>
          <p:cNvPr id="9" name="TextBox 8">
            <a:extLst>
              <a:ext uri="{FF2B5EF4-FFF2-40B4-BE49-F238E27FC236}">
                <a16:creationId xmlns:a16="http://schemas.microsoft.com/office/drawing/2014/main" id="{DAC6583A-F049-4217-9620-4B88058D8CA5}"/>
              </a:ext>
            </a:extLst>
          </p:cNvPr>
          <p:cNvSpPr txBox="1"/>
          <p:nvPr/>
        </p:nvSpPr>
        <p:spPr>
          <a:xfrm>
            <a:off x="518474" y="6259398"/>
            <a:ext cx="11133056" cy="646331"/>
          </a:xfrm>
          <a:prstGeom prst="rect">
            <a:avLst/>
          </a:prstGeom>
          <a:noFill/>
        </p:spPr>
        <p:txBody>
          <a:bodyPr wrap="square" rtlCol="0">
            <a:spAutoFit/>
          </a:bodyPr>
          <a:lstStyle/>
          <a:p>
            <a:r>
              <a:rPr lang="en-US" dirty="0"/>
              <a:t>Sales were down in the first half of 2020 due to COVID but picked up later the same year, the sales were much better in 2021.</a:t>
            </a:r>
            <a:endParaRPr lang="en-IN" dirty="0"/>
          </a:p>
        </p:txBody>
      </p:sp>
    </p:spTree>
    <p:extLst>
      <p:ext uri="{BB962C8B-B14F-4D97-AF65-F5344CB8AC3E}">
        <p14:creationId xmlns:p14="http://schemas.microsoft.com/office/powerpoint/2010/main" val="1120604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19B554-62C6-4EF5-82A8-1FB24D78011C}"/>
              </a:ext>
            </a:extLst>
          </p:cNvPr>
          <p:cNvSpPr txBox="1"/>
          <p:nvPr/>
        </p:nvSpPr>
        <p:spPr>
          <a:xfrm>
            <a:off x="509047" y="367645"/>
            <a:ext cx="11067068" cy="369332"/>
          </a:xfrm>
          <a:prstGeom prst="rect">
            <a:avLst/>
          </a:prstGeom>
          <a:noFill/>
        </p:spPr>
        <p:txBody>
          <a:bodyPr wrap="square" rtlCol="0">
            <a:spAutoFit/>
          </a:bodyPr>
          <a:lstStyle/>
          <a:p>
            <a:r>
              <a:rPr lang="en-US" sz="1800" b="0" i="0" u="none" strike="noStrike" baseline="0" dirty="0">
                <a:latin typeface="Arial" panose="020B0604020202020204" pitchFamily="34" charset="0"/>
              </a:rPr>
              <a:t>8. In which quarter of 2020, got the maximum total_sold_quantity? </a:t>
            </a:r>
            <a:endParaRPr lang="en-IN" dirty="0"/>
          </a:p>
        </p:txBody>
      </p:sp>
      <p:pic>
        <p:nvPicPr>
          <p:cNvPr id="4" name="Picture 3">
            <a:extLst>
              <a:ext uri="{FF2B5EF4-FFF2-40B4-BE49-F238E27FC236}">
                <a16:creationId xmlns:a16="http://schemas.microsoft.com/office/drawing/2014/main" id="{F84B7E5E-A1C7-42FB-B08C-EFD8B9EAD859}"/>
              </a:ext>
            </a:extLst>
          </p:cNvPr>
          <p:cNvPicPr>
            <a:picLocks noChangeAspect="1"/>
          </p:cNvPicPr>
          <p:nvPr/>
        </p:nvPicPr>
        <p:blipFill>
          <a:blip r:embed="rId2"/>
          <a:stretch>
            <a:fillRect/>
          </a:stretch>
        </p:blipFill>
        <p:spPr>
          <a:xfrm>
            <a:off x="615885" y="736977"/>
            <a:ext cx="4591050" cy="3771900"/>
          </a:xfrm>
          <a:prstGeom prst="rect">
            <a:avLst/>
          </a:prstGeom>
        </p:spPr>
      </p:pic>
      <p:pic>
        <p:nvPicPr>
          <p:cNvPr id="6" name="Picture 5">
            <a:extLst>
              <a:ext uri="{FF2B5EF4-FFF2-40B4-BE49-F238E27FC236}">
                <a16:creationId xmlns:a16="http://schemas.microsoft.com/office/drawing/2014/main" id="{012094E0-1947-4B85-80AD-05D90319059F}"/>
              </a:ext>
            </a:extLst>
          </p:cNvPr>
          <p:cNvPicPr>
            <a:picLocks noChangeAspect="1"/>
          </p:cNvPicPr>
          <p:nvPr/>
        </p:nvPicPr>
        <p:blipFill>
          <a:blip r:embed="rId3"/>
          <a:stretch>
            <a:fillRect/>
          </a:stretch>
        </p:blipFill>
        <p:spPr>
          <a:xfrm>
            <a:off x="5509083" y="736977"/>
            <a:ext cx="2305050" cy="1076325"/>
          </a:xfrm>
          <a:prstGeom prst="rect">
            <a:avLst/>
          </a:prstGeom>
        </p:spPr>
      </p:pic>
      <p:sp>
        <p:nvSpPr>
          <p:cNvPr id="7" name="TextBox 6">
            <a:extLst>
              <a:ext uri="{FF2B5EF4-FFF2-40B4-BE49-F238E27FC236}">
                <a16:creationId xmlns:a16="http://schemas.microsoft.com/office/drawing/2014/main" id="{3C8F5FF4-E6AF-4C75-86D5-5F051A8CD3B4}"/>
              </a:ext>
            </a:extLst>
          </p:cNvPr>
          <p:cNvSpPr txBox="1"/>
          <p:nvPr/>
        </p:nvSpPr>
        <p:spPr>
          <a:xfrm>
            <a:off x="615885" y="5392132"/>
            <a:ext cx="10092964" cy="1200329"/>
          </a:xfrm>
          <a:prstGeom prst="rect">
            <a:avLst/>
          </a:prstGeom>
          <a:noFill/>
        </p:spPr>
        <p:txBody>
          <a:bodyPr wrap="square" rtlCol="0">
            <a:spAutoFit/>
          </a:bodyPr>
          <a:lstStyle/>
          <a:p>
            <a:r>
              <a:rPr lang="en-US" dirty="0"/>
              <a:t>As fiscal year of Atliq starts from September instead of April, we have to do the quarter calculation respectively, we can conclude that the first quarter(September, November, December) has the most quantity of items sold whereas third quarter(March, April, May) has the least quantity of items sold.</a:t>
            </a:r>
            <a:endParaRPr lang="en-IN" dirty="0"/>
          </a:p>
        </p:txBody>
      </p:sp>
    </p:spTree>
    <p:extLst>
      <p:ext uri="{BB962C8B-B14F-4D97-AF65-F5344CB8AC3E}">
        <p14:creationId xmlns:p14="http://schemas.microsoft.com/office/powerpoint/2010/main" val="1747859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7FAE3C-3FDC-4C1D-9C3B-25B9D6413CA7}"/>
              </a:ext>
            </a:extLst>
          </p:cNvPr>
          <p:cNvSpPr txBox="1"/>
          <p:nvPr/>
        </p:nvSpPr>
        <p:spPr>
          <a:xfrm>
            <a:off x="443059" y="292232"/>
            <a:ext cx="11170763" cy="646331"/>
          </a:xfrm>
          <a:prstGeom prst="rect">
            <a:avLst/>
          </a:prstGeom>
          <a:noFill/>
        </p:spPr>
        <p:txBody>
          <a:bodyPr wrap="square" rtlCol="0">
            <a:spAutoFit/>
          </a:bodyPr>
          <a:lstStyle/>
          <a:p>
            <a:r>
              <a:rPr lang="en-US" sz="1800" b="0" i="0" u="none" strike="noStrike" baseline="0" dirty="0">
                <a:latin typeface="Arial" panose="020B0604020202020204" pitchFamily="34" charset="0"/>
              </a:rPr>
              <a:t>9. Which channel helped to bring more gross sales in the fiscal year 2021 and the percentage of contribution? </a:t>
            </a:r>
            <a:endParaRPr lang="en-IN" dirty="0"/>
          </a:p>
        </p:txBody>
      </p:sp>
      <p:pic>
        <p:nvPicPr>
          <p:cNvPr id="4" name="Picture 3">
            <a:extLst>
              <a:ext uri="{FF2B5EF4-FFF2-40B4-BE49-F238E27FC236}">
                <a16:creationId xmlns:a16="http://schemas.microsoft.com/office/drawing/2014/main" id="{603C9EC4-B251-4231-B960-083B132AACFB}"/>
              </a:ext>
            </a:extLst>
          </p:cNvPr>
          <p:cNvPicPr>
            <a:picLocks noChangeAspect="1"/>
          </p:cNvPicPr>
          <p:nvPr/>
        </p:nvPicPr>
        <p:blipFill>
          <a:blip r:embed="rId2"/>
          <a:stretch>
            <a:fillRect/>
          </a:stretch>
        </p:blipFill>
        <p:spPr>
          <a:xfrm>
            <a:off x="520683" y="1027423"/>
            <a:ext cx="8038855" cy="4185600"/>
          </a:xfrm>
          <a:prstGeom prst="rect">
            <a:avLst/>
          </a:prstGeom>
        </p:spPr>
      </p:pic>
      <p:pic>
        <p:nvPicPr>
          <p:cNvPr id="6" name="Picture 5">
            <a:extLst>
              <a:ext uri="{FF2B5EF4-FFF2-40B4-BE49-F238E27FC236}">
                <a16:creationId xmlns:a16="http://schemas.microsoft.com/office/drawing/2014/main" id="{D1BD1205-1477-4ED9-8821-2B943AFE8187}"/>
              </a:ext>
            </a:extLst>
          </p:cNvPr>
          <p:cNvPicPr>
            <a:picLocks noChangeAspect="1"/>
          </p:cNvPicPr>
          <p:nvPr/>
        </p:nvPicPr>
        <p:blipFill>
          <a:blip r:embed="rId3"/>
          <a:stretch>
            <a:fillRect/>
          </a:stretch>
        </p:blipFill>
        <p:spPr>
          <a:xfrm>
            <a:off x="8700842" y="1027423"/>
            <a:ext cx="3067050" cy="866775"/>
          </a:xfrm>
          <a:prstGeom prst="rect">
            <a:avLst/>
          </a:prstGeom>
        </p:spPr>
      </p:pic>
      <p:sp>
        <p:nvSpPr>
          <p:cNvPr id="7" name="TextBox 6">
            <a:extLst>
              <a:ext uri="{FF2B5EF4-FFF2-40B4-BE49-F238E27FC236}">
                <a16:creationId xmlns:a16="http://schemas.microsoft.com/office/drawing/2014/main" id="{22A65405-70BB-4868-AC9E-5F253F4BA139}"/>
              </a:ext>
            </a:extLst>
          </p:cNvPr>
          <p:cNvSpPr txBox="1"/>
          <p:nvPr/>
        </p:nvSpPr>
        <p:spPr>
          <a:xfrm>
            <a:off x="520683" y="5986021"/>
            <a:ext cx="11093139" cy="369332"/>
          </a:xfrm>
          <a:prstGeom prst="rect">
            <a:avLst/>
          </a:prstGeom>
          <a:noFill/>
        </p:spPr>
        <p:txBody>
          <a:bodyPr wrap="square" rtlCol="0">
            <a:spAutoFit/>
          </a:bodyPr>
          <a:lstStyle/>
          <a:p>
            <a:r>
              <a:rPr lang="en-US" dirty="0"/>
              <a:t>In fiscal year 2021, Retailer channel has the most gross sales, around 73.23 %.</a:t>
            </a:r>
            <a:endParaRPr lang="en-IN" dirty="0"/>
          </a:p>
        </p:txBody>
      </p:sp>
    </p:spTree>
    <p:extLst>
      <p:ext uri="{BB962C8B-B14F-4D97-AF65-F5344CB8AC3E}">
        <p14:creationId xmlns:p14="http://schemas.microsoft.com/office/powerpoint/2010/main" val="3439598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CBB94D-CBA6-49D1-8BB5-E3094600C6A4}"/>
              </a:ext>
            </a:extLst>
          </p:cNvPr>
          <p:cNvSpPr txBox="1"/>
          <p:nvPr/>
        </p:nvSpPr>
        <p:spPr>
          <a:xfrm>
            <a:off x="188537" y="348792"/>
            <a:ext cx="11632676" cy="369332"/>
          </a:xfrm>
          <a:prstGeom prst="rect">
            <a:avLst/>
          </a:prstGeom>
          <a:noFill/>
        </p:spPr>
        <p:txBody>
          <a:bodyPr wrap="square" rtlCol="0">
            <a:spAutoFit/>
          </a:bodyPr>
          <a:lstStyle/>
          <a:p>
            <a:r>
              <a:rPr lang="en-US" sz="1800" b="0" i="0" u="none" strike="noStrike" baseline="0" dirty="0">
                <a:latin typeface="Arial" panose="020B0604020202020204" pitchFamily="34" charset="0"/>
              </a:rPr>
              <a:t>10. Get the Top 3 products in each division that have a high total_sold_quantity in the fiscal_year 2021? </a:t>
            </a:r>
            <a:endParaRPr lang="en-IN" dirty="0"/>
          </a:p>
        </p:txBody>
      </p:sp>
      <p:pic>
        <p:nvPicPr>
          <p:cNvPr id="4" name="Picture 3">
            <a:extLst>
              <a:ext uri="{FF2B5EF4-FFF2-40B4-BE49-F238E27FC236}">
                <a16:creationId xmlns:a16="http://schemas.microsoft.com/office/drawing/2014/main" id="{5A1A78DB-B1FC-4B71-8D26-970F04EE5076}"/>
              </a:ext>
            </a:extLst>
          </p:cNvPr>
          <p:cNvPicPr>
            <a:picLocks noChangeAspect="1"/>
          </p:cNvPicPr>
          <p:nvPr/>
        </p:nvPicPr>
        <p:blipFill>
          <a:blip r:embed="rId2"/>
          <a:stretch>
            <a:fillRect/>
          </a:stretch>
        </p:blipFill>
        <p:spPr>
          <a:xfrm>
            <a:off x="339365" y="718125"/>
            <a:ext cx="8124825" cy="3269414"/>
          </a:xfrm>
          <a:prstGeom prst="rect">
            <a:avLst/>
          </a:prstGeom>
        </p:spPr>
      </p:pic>
      <p:pic>
        <p:nvPicPr>
          <p:cNvPr id="6" name="Picture 5">
            <a:extLst>
              <a:ext uri="{FF2B5EF4-FFF2-40B4-BE49-F238E27FC236}">
                <a16:creationId xmlns:a16="http://schemas.microsoft.com/office/drawing/2014/main" id="{45CF0898-BED7-45D7-9B4D-AE1FC20F92AD}"/>
              </a:ext>
            </a:extLst>
          </p:cNvPr>
          <p:cNvPicPr>
            <a:picLocks noChangeAspect="1"/>
          </p:cNvPicPr>
          <p:nvPr/>
        </p:nvPicPr>
        <p:blipFill>
          <a:blip r:embed="rId3"/>
          <a:stretch>
            <a:fillRect/>
          </a:stretch>
        </p:blipFill>
        <p:spPr>
          <a:xfrm>
            <a:off x="339365" y="4210050"/>
            <a:ext cx="5962650" cy="2095500"/>
          </a:xfrm>
          <a:prstGeom prst="rect">
            <a:avLst/>
          </a:prstGeom>
        </p:spPr>
      </p:pic>
    </p:spTree>
    <p:extLst>
      <p:ext uri="{BB962C8B-B14F-4D97-AF65-F5344CB8AC3E}">
        <p14:creationId xmlns:p14="http://schemas.microsoft.com/office/powerpoint/2010/main" val="4009798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731739-073E-4476-B0AA-CA2BF832795F}"/>
              </a:ext>
            </a:extLst>
          </p:cNvPr>
          <p:cNvPicPr>
            <a:picLocks noChangeAspect="1"/>
          </p:cNvPicPr>
          <p:nvPr/>
        </p:nvPicPr>
        <p:blipFill>
          <a:blip r:embed="rId2"/>
          <a:stretch>
            <a:fillRect/>
          </a:stretch>
        </p:blipFill>
        <p:spPr>
          <a:xfrm>
            <a:off x="654574" y="584855"/>
            <a:ext cx="5695950" cy="3124200"/>
          </a:xfrm>
          <a:prstGeom prst="rect">
            <a:avLst/>
          </a:prstGeom>
        </p:spPr>
      </p:pic>
      <p:sp>
        <p:nvSpPr>
          <p:cNvPr id="5" name="TextBox 4">
            <a:extLst>
              <a:ext uri="{FF2B5EF4-FFF2-40B4-BE49-F238E27FC236}">
                <a16:creationId xmlns:a16="http://schemas.microsoft.com/office/drawing/2014/main" id="{E0A2E7FE-0315-4755-B0FF-AD657B2CC99D}"/>
              </a:ext>
            </a:extLst>
          </p:cNvPr>
          <p:cNvSpPr txBox="1"/>
          <p:nvPr/>
        </p:nvSpPr>
        <p:spPr>
          <a:xfrm>
            <a:off x="400049" y="5722070"/>
            <a:ext cx="11194919" cy="369332"/>
          </a:xfrm>
          <a:prstGeom prst="rect">
            <a:avLst/>
          </a:prstGeom>
          <a:noFill/>
        </p:spPr>
        <p:txBody>
          <a:bodyPr wrap="square" rtlCol="0">
            <a:spAutoFit/>
          </a:bodyPr>
          <a:lstStyle/>
          <a:p>
            <a:r>
              <a:rPr lang="en-US" dirty="0"/>
              <a:t>In fiscal year 2021, the product AQ Pen Drive 2 IN 1 Premium has been sold the most, 701373 times.</a:t>
            </a:r>
            <a:endParaRPr lang="en-IN" dirty="0"/>
          </a:p>
        </p:txBody>
      </p:sp>
    </p:spTree>
    <p:extLst>
      <p:ext uri="{BB962C8B-B14F-4D97-AF65-F5344CB8AC3E}">
        <p14:creationId xmlns:p14="http://schemas.microsoft.com/office/powerpoint/2010/main" val="189432972"/>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103</TotalTime>
  <Words>474</Words>
  <Application>Microsoft Office PowerPoint</Application>
  <PresentationFormat>Widescreen</PresentationFormat>
  <Paragraphs>22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Roboto</vt:lpstr>
      <vt:lpstr>Wingdings 3</vt:lpstr>
      <vt:lpstr>Slice</vt:lpstr>
      <vt:lpstr>ATLIQ Hardware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Hardware </dc:title>
  <dc:creator>Sayen Das</dc:creator>
  <cp:lastModifiedBy>Sayen Das</cp:lastModifiedBy>
  <cp:revision>10</cp:revision>
  <dcterms:created xsi:type="dcterms:W3CDTF">2026-02-01T05:19:02Z</dcterms:created>
  <dcterms:modified xsi:type="dcterms:W3CDTF">2026-02-01T12:27:14Z</dcterms:modified>
</cp:coreProperties>
</file>